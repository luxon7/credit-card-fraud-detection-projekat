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Poppins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C55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E0DC04E-0C86-4453-8C63-D9EFAB88100E}">
  <a:tblStyle styleId="{9E0DC04E-0C86-4453-8C63-D9EFAB88100E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/>
          <p:nvPr/>
        </p:nvSpPr>
        <p:spPr>
          <a:xfrm>
            <a:off x="9334500" y="-1905000"/>
            <a:ext cx="4762500" cy="4762500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295275" y="1632644"/>
            <a:ext cx="11601450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 b="1" i="0" u="none" strike="noStrike" cap="none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Credit card fraud detection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3259335"/>
            <a:ext cx="11049000" cy="4431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Primena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dubokih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neuronskih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mreža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za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prevenciju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finansijskih</a:t>
            </a:r>
            <a:r>
              <a:rPr lang="en-US" sz="18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8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prevara</a:t>
            </a:r>
            <a:endParaRPr dirty="0"/>
          </a:p>
        </p:txBody>
      </p:sp>
      <p:sp>
        <p:nvSpPr>
          <p:cNvPr id="88" name="Google Shape;88;p13"/>
          <p:cNvSpPr/>
          <p:nvPr/>
        </p:nvSpPr>
        <p:spPr>
          <a:xfrm>
            <a:off x="5619750" y="3910756"/>
            <a:ext cx="952500" cy="381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571500" y="4615606"/>
            <a:ext cx="110490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Autor: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Luka Hristov 2022/0331</a:t>
            </a:r>
            <a:endParaRPr dirty="0"/>
          </a:p>
        </p:txBody>
      </p:sp>
      <p:sp>
        <p:nvSpPr>
          <p:cNvPr id="90" name="Google Shape;90;p13"/>
          <p:cNvSpPr txBox="1"/>
          <p:nvPr/>
        </p:nvSpPr>
        <p:spPr>
          <a:xfrm>
            <a:off x="571500" y="4920406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Predmet:</a:t>
            </a:r>
            <a:r>
              <a:rPr lang="en-US" sz="15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Duboko učenje i neuronske mreže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476375"/>
            <a:ext cx="349240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1476375"/>
            <a:ext cx="3492549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950" y="1476375"/>
            <a:ext cx="3492400" cy="2333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71500" y="4095750"/>
            <a:ext cx="3492400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349650" y="4095750"/>
            <a:ext cx="3492549" cy="2638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4095750"/>
            <a:ext cx="3492400" cy="2638425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14"/>
          <p:cNvSpPr txBox="1"/>
          <p:nvPr/>
        </p:nvSpPr>
        <p:spPr>
          <a:xfrm>
            <a:off x="762000" y="571500"/>
            <a:ext cx="114014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STRUKTURA</a:t>
            </a:r>
            <a:endParaRPr dirty="0"/>
          </a:p>
        </p:txBody>
      </p:sp>
      <p:sp>
        <p:nvSpPr>
          <p:cNvPr id="102" name="Google Shape;102;p14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857250" y="2457450"/>
            <a:ext cx="30669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01. Opis problema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57250" y="2914650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Finansijski kontekst, disbalans klasa i poslovni ciljevi detekcije.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4635400" y="2457450"/>
            <a:ext cx="306710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02. Podaci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4635400" y="2914650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Kaggle dataset, PCA varijable i StandardScaler preprocesiranje.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8413700" y="2457450"/>
            <a:ext cx="30669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03. Arhitektura</a:t>
            </a:r>
            <a:endParaRPr/>
          </a:p>
        </p:txBody>
      </p:sp>
      <p:sp>
        <p:nvSpPr>
          <p:cNvPr id="108" name="Google Shape;108;p14"/>
          <p:cNvSpPr txBox="1"/>
          <p:nvPr/>
        </p:nvSpPr>
        <p:spPr>
          <a:xfrm>
            <a:off x="8413700" y="2914650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Model levka: 30 → 32 → 16 → 1 realizovan u Keras/TensorFlow.</a:t>
            </a:r>
            <a:endParaRPr/>
          </a:p>
        </p:txBody>
      </p:sp>
      <p:sp>
        <p:nvSpPr>
          <p:cNvPr id="109" name="Google Shape;109;p14"/>
          <p:cNvSpPr txBox="1"/>
          <p:nvPr/>
        </p:nvSpPr>
        <p:spPr>
          <a:xfrm>
            <a:off x="857250" y="5076825"/>
            <a:ext cx="30669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04. Eksperimenti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57250" y="5534025"/>
            <a:ext cx="29209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Poređenje tri konfiguracije: Baseline, Težinski i Regularizovani model.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4635400" y="5076825"/>
            <a:ext cx="306710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05. Evaluacija</a:t>
            </a:r>
            <a:endParaRPr/>
          </a:p>
        </p:txBody>
      </p:sp>
      <p:sp>
        <p:nvSpPr>
          <p:cNvPr id="112" name="Google Shape;112;p14"/>
          <p:cNvSpPr txBox="1"/>
          <p:nvPr/>
        </p:nvSpPr>
        <p:spPr>
          <a:xfrm>
            <a:off x="4635400" y="5534025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Analiza Accuracy paradoksa, Precision i Recall metrika.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8413700" y="5076825"/>
            <a:ext cx="30669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06. Zaključak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8413700" y="5534025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Finalna preporuka i inženjerska diskusija o isplativosti.</a:t>
            </a:r>
            <a:endParaRPr/>
          </a:p>
        </p:txBody>
      </p:sp>
      <p:pic>
        <p:nvPicPr>
          <p:cNvPr id="115" name="Google Shape;11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57250" y="1847850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635400" y="1847850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413700" y="18478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857250" y="44672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4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4635400" y="44672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14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8413700" y="4467225"/>
            <a:ext cx="333375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3005137"/>
            <a:ext cx="5238750" cy="1943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01. OPIS PROBLEMA &amp; POSLOVNI CILJ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6686550" y="3309937"/>
            <a:ext cx="486060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Poslovni kompromis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6686550" y="3729037"/>
            <a:ext cx="46291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Bolje je blokirati sumnjivu legitimnu transakciju (False Positive) i zatražiti verifikaciju, nego dopustiti prevarantu da isprazni račun (False Negative).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52500" y="2471737"/>
            <a:ext cx="48577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Ekstremni disbalans:</a:t>
            </a: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Prevare čine svega 0.17% (492 od 284,807 transakcija).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952500" y="3176587"/>
            <a:ext cx="4857750" cy="476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Paradoks tačnosti:</a:t>
            </a: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Accuracy od 99.9% je beskoristan jer model može promašiti sve prevare i zadržati visoku tačnost.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952500" y="3890962"/>
            <a:ext cx="485775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Cilj:</a:t>
            </a: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Maksimizacija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Recall-a</a:t>
            </a: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(hvatanje prevara) pre nego što se transakcija odobri.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952500" y="4586287"/>
            <a:ext cx="485775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Nelinearnost:</a:t>
            </a: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Neuronske mreže uočavaju skrivene obrasce koje linearni modeli propuštaju.</a:t>
            </a:r>
            <a:endParaRPr/>
          </a:p>
        </p:txBody>
      </p:sp>
      <p:pic>
        <p:nvPicPr>
          <p:cNvPr id="134" name="Google Shape;134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47173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176587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890962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586287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6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02. PODACI &amp; PREPROCESIRANJE</a:t>
            </a:r>
            <a:endParaRPr/>
          </a:p>
        </p:txBody>
      </p:sp>
      <p:sp>
        <p:nvSpPr>
          <p:cNvPr id="143" name="Google Shape;143;p16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44" name="Google Shape;144;p16"/>
          <p:cNvGraphicFramePr/>
          <p:nvPr/>
        </p:nvGraphicFramePr>
        <p:xfrm>
          <a:off x="571500" y="2252662"/>
          <a:ext cx="11049000" cy="2857500"/>
        </p:xfrm>
        <a:graphic>
          <a:graphicData uri="http://schemas.openxmlformats.org/drawingml/2006/table">
            <a:tbl>
              <a:tblPr firstRow="1" bandRow="1">
                <a:noFill/>
                <a:tableStyleId>{9E0DC04E-0C86-4453-8C63-D9EFAB88100E}</a:tableStyleId>
              </a:tblPr>
              <a:tblGrid>
                <a:gridCol w="132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17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52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Atribut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Tip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Opis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Status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V1 – V28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Float (PCA)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Anonimizovane karakteristike dobijene PCA transformacijom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Već skalirano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Time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Float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Broj sekundi proteklih od prve transakcije u setu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StandardScaler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Amount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Float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Iznos transakcije u eurima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StandardScaler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Class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Binary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Ciljna klasa (0 = Regularna, 1 = Prevara)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Target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5" name="Google Shape;145;p16"/>
          <p:cNvSpPr txBox="1"/>
          <p:nvPr/>
        </p:nvSpPr>
        <p:spPr>
          <a:xfrm>
            <a:off x="571500" y="5395912"/>
            <a:ext cx="11049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Podela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podataka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-US" sz="1500" b="1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80% Train / 20% Test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uz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korišćenje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Stratify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parametra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za 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očuvanje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procenta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1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prevara</a:t>
            </a:r>
            <a:r>
              <a:rPr lang="en-US" sz="1500" b="0" i="1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146" name="Google Shape;146;p16"/>
          <p:cNvSpPr/>
          <p:nvPr/>
        </p:nvSpPr>
        <p:spPr>
          <a:xfrm>
            <a:off x="571500" y="3409950"/>
            <a:ext cx="13253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1896814" y="3409950"/>
            <a:ext cx="15542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3451026" y="3409950"/>
            <a:ext cx="62172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9668321" y="3409950"/>
            <a:ext cx="19521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/>
          <p:nvPr/>
        </p:nvSpPr>
        <p:spPr>
          <a:xfrm>
            <a:off x="571500" y="3971925"/>
            <a:ext cx="13253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16"/>
          <p:cNvSpPr/>
          <p:nvPr/>
        </p:nvSpPr>
        <p:spPr>
          <a:xfrm>
            <a:off x="1896814" y="3971925"/>
            <a:ext cx="15542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16"/>
          <p:cNvSpPr/>
          <p:nvPr/>
        </p:nvSpPr>
        <p:spPr>
          <a:xfrm>
            <a:off x="3451026" y="3971925"/>
            <a:ext cx="62172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16"/>
          <p:cNvSpPr/>
          <p:nvPr/>
        </p:nvSpPr>
        <p:spPr>
          <a:xfrm>
            <a:off x="9668321" y="3971925"/>
            <a:ext cx="19521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16"/>
          <p:cNvSpPr/>
          <p:nvPr/>
        </p:nvSpPr>
        <p:spPr>
          <a:xfrm>
            <a:off x="571500" y="4533900"/>
            <a:ext cx="13253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16"/>
          <p:cNvSpPr/>
          <p:nvPr/>
        </p:nvSpPr>
        <p:spPr>
          <a:xfrm>
            <a:off x="1896814" y="4533900"/>
            <a:ext cx="15542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16"/>
          <p:cNvSpPr/>
          <p:nvPr/>
        </p:nvSpPr>
        <p:spPr>
          <a:xfrm>
            <a:off x="3451026" y="4533900"/>
            <a:ext cx="62172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6"/>
          <p:cNvSpPr/>
          <p:nvPr/>
        </p:nvSpPr>
        <p:spPr>
          <a:xfrm>
            <a:off x="9668321" y="4533900"/>
            <a:ext cx="19521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6"/>
          <p:cNvSpPr/>
          <p:nvPr/>
        </p:nvSpPr>
        <p:spPr>
          <a:xfrm>
            <a:off x="571500" y="5095875"/>
            <a:ext cx="132531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1896814" y="5095875"/>
            <a:ext cx="155421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6"/>
          <p:cNvSpPr/>
          <p:nvPr/>
        </p:nvSpPr>
        <p:spPr>
          <a:xfrm>
            <a:off x="3451026" y="5095875"/>
            <a:ext cx="621729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6"/>
          <p:cNvSpPr/>
          <p:nvPr/>
        </p:nvSpPr>
        <p:spPr>
          <a:xfrm>
            <a:off x="9668321" y="5095875"/>
            <a:ext cx="195217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6" name="Google Shape;166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0" y="2733675"/>
            <a:ext cx="5238750" cy="2295525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7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03. ARHITEKTURA MODELA (KERAS/TF)</a:t>
            </a:r>
            <a:endParaRPr dirty="0"/>
          </a:p>
        </p:txBody>
      </p:sp>
      <p:sp>
        <p:nvSpPr>
          <p:cNvPr id="168" name="Google Shape;168;p17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571500" y="2409825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Funnel Arhitektura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571500" y="268605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Postepeno sažimanje informacija radi ekstrakcije ključnih anomalija: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952500" y="3486150"/>
            <a:ext cx="4857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Ulaz:</a:t>
            </a: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30 neurona (Input Layer)</a:t>
            </a:r>
            <a:endParaRPr/>
          </a:p>
        </p:txBody>
      </p:sp>
      <p:sp>
        <p:nvSpPr>
          <p:cNvPr id="172" name="Google Shape;172;p17"/>
          <p:cNvSpPr txBox="1"/>
          <p:nvPr/>
        </p:nvSpPr>
        <p:spPr>
          <a:xfrm>
            <a:off x="952500" y="3952875"/>
            <a:ext cx="4857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Hidden 1:</a:t>
            </a: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32 neurona +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ReLU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952500" y="4419600"/>
            <a:ext cx="4857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Hidden 2:</a:t>
            </a: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16 neurona +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ReLU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952500" y="4886325"/>
            <a:ext cx="485775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Izlaz:</a:t>
            </a:r>
            <a:r>
              <a:rPr lang="en-US" sz="1500" b="0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1 neuron + </a:t>
            </a:r>
            <a:r>
              <a:rPr lang="en-US" sz="1500" b="1" i="0" u="none" strike="noStrike" cap="non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Sigmoid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6667500" y="3067050"/>
            <a:ext cx="490061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Hiperparametri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6667500" y="352425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Optimizator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Adam (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=0.001)</a:t>
            </a:r>
            <a:endParaRPr dirty="0"/>
          </a:p>
        </p:txBody>
      </p:sp>
      <p:sp>
        <p:nvSpPr>
          <p:cNvPr id="177" name="Google Shape;177;p17"/>
          <p:cNvSpPr txBox="1"/>
          <p:nvPr/>
        </p:nvSpPr>
        <p:spPr>
          <a:xfrm>
            <a:off x="6667500" y="382905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Loss: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Binary Crossentropy</a:t>
            </a:r>
            <a:endParaRPr/>
          </a:p>
        </p:txBody>
      </p:sp>
      <p:sp>
        <p:nvSpPr>
          <p:cNvPr id="178" name="Google Shape;178;p17"/>
          <p:cNvSpPr txBox="1"/>
          <p:nvPr/>
        </p:nvSpPr>
        <p:spPr>
          <a:xfrm>
            <a:off x="6667500" y="413385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Batch: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2048</a:t>
            </a:r>
            <a:endParaRPr/>
          </a:p>
        </p:txBody>
      </p:sp>
      <p:sp>
        <p:nvSpPr>
          <p:cNvPr id="179" name="Google Shape;179;p17"/>
          <p:cNvSpPr txBox="1"/>
          <p:nvPr/>
        </p:nvSpPr>
        <p:spPr>
          <a:xfrm>
            <a:off x="6667500" y="4438650"/>
            <a:ext cx="466725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Regularizacija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Dropout (0.2) + L2</a:t>
            </a:r>
            <a:endParaRPr dirty="0"/>
          </a:p>
        </p:txBody>
      </p:sp>
      <p:pic>
        <p:nvPicPr>
          <p:cNvPr id="180" name="Google Shape;180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48615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3952875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419600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886325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2581275"/>
            <a:ext cx="3492400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2581275"/>
            <a:ext cx="3492549" cy="26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127950" y="2581275"/>
            <a:ext cx="3492400" cy="260032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18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04. TRI FAZE OPTIMIZACIJE</a:t>
            </a:r>
            <a:endParaRPr/>
          </a:p>
        </p:txBody>
      </p:sp>
      <p:sp>
        <p:nvSpPr>
          <p:cNvPr id="192" name="Google Shape;192;p18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857250" y="2914650"/>
            <a:ext cx="30669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EF4444"/>
                </a:solidFill>
                <a:latin typeface="Poppins"/>
                <a:ea typeface="Poppins"/>
                <a:cs typeface="Poppins"/>
                <a:sym typeface="Poppins"/>
              </a:rPr>
              <a:t>M1: Baseline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857250" y="3371850"/>
            <a:ext cx="2920900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Čista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mreža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bez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balansiranja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klasa</a:t>
            </a:r>
            <a:endParaRPr dirty="0"/>
          </a:p>
        </p:txBody>
      </p:sp>
      <p:sp>
        <p:nvSpPr>
          <p:cNvPr id="195" name="Google Shape;195;p18"/>
          <p:cNvSpPr/>
          <p:nvPr/>
        </p:nvSpPr>
        <p:spPr>
          <a:xfrm>
            <a:off x="857250" y="3819525"/>
            <a:ext cx="29209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 txBox="1"/>
          <p:nvPr/>
        </p:nvSpPr>
        <p:spPr>
          <a:xfrm>
            <a:off x="857250" y="3981450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Problem: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Ignoriše prevare radi održavanja 99.9% tačnosti.</a:t>
            </a:r>
            <a:endParaRPr/>
          </a:p>
        </p:txBody>
      </p:sp>
      <p:sp>
        <p:nvSpPr>
          <p:cNvPr id="197" name="Google Shape;197;p18"/>
          <p:cNvSpPr txBox="1"/>
          <p:nvPr/>
        </p:nvSpPr>
        <p:spPr>
          <a:xfrm>
            <a:off x="4635400" y="2914650"/>
            <a:ext cx="3067102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59E0B"/>
                </a:solidFill>
                <a:latin typeface="Poppins"/>
                <a:ea typeface="Poppins"/>
                <a:cs typeface="Poppins"/>
                <a:sym typeface="Poppins"/>
              </a:rPr>
              <a:t>M2: Težinski</a:t>
            </a:r>
            <a:endParaRPr/>
          </a:p>
        </p:txBody>
      </p:sp>
      <p:sp>
        <p:nvSpPr>
          <p:cNvPr id="198" name="Google Shape;198;p18"/>
          <p:cNvSpPr txBox="1"/>
          <p:nvPr/>
        </p:nvSpPr>
        <p:spPr>
          <a:xfrm>
            <a:off x="4635400" y="3371850"/>
            <a:ext cx="2921049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Uvođenje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Class Weights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odnos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289:1)</a:t>
            </a:r>
            <a:endParaRPr dirty="0"/>
          </a:p>
        </p:txBody>
      </p:sp>
      <p:sp>
        <p:nvSpPr>
          <p:cNvPr id="199" name="Google Shape;199;p18"/>
          <p:cNvSpPr/>
          <p:nvPr/>
        </p:nvSpPr>
        <p:spPr>
          <a:xfrm>
            <a:off x="4635400" y="4124325"/>
            <a:ext cx="2921049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 txBox="1"/>
          <p:nvPr/>
        </p:nvSpPr>
        <p:spPr>
          <a:xfrm>
            <a:off x="4635400" y="4286250"/>
            <a:ext cx="2921049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Efekat: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Drastičan skok Recall-a, ali visoka paranoja (lažne uzbune).</a:t>
            </a:r>
            <a:endParaRPr/>
          </a:p>
        </p:txBody>
      </p:sp>
      <p:sp>
        <p:nvSpPr>
          <p:cNvPr id="201" name="Google Shape;201;p18"/>
          <p:cNvSpPr txBox="1"/>
          <p:nvPr/>
        </p:nvSpPr>
        <p:spPr>
          <a:xfrm>
            <a:off x="8413700" y="2914650"/>
            <a:ext cx="3066945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2C55E"/>
                </a:solidFill>
                <a:latin typeface="Poppins"/>
                <a:ea typeface="Poppins"/>
                <a:cs typeface="Poppins"/>
                <a:sym typeface="Poppins"/>
              </a:rPr>
              <a:t>M3: Finalni</a:t>
            </a:r>
            <a:endParaRPr/>
          </a:p>
        </p:txBody>
      </p:sp>
      <p:sp>
        <p:nvSpPr>
          <p:cNvPr id="202" name="Google Shape;202;p18"/>
          <p:cNvSpPr txBox="1"/>
          <p:nvPr/>
        </p:nvSpPr>
        <p:spPr>
          <a:xfrm>
            <a:off x="8413699" y="3371850"/>
            <a:ext cx="3345681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>
              <a:lnSpc>
                <a:spcPct val="160000"/>
              </a:lnSpc>
            </a:pP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Težine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+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Dropout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+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Weight</a:t>
            </a:r>
            <a:r>
              <a:rPr lang="en-US" sz="1500" b="1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Decay</a:t>
            </a:r>
            <a:endParaRPr dirty="0"/>
          </a:p>
        </p:txBody>
      </p:sp>
      <p:sp>
        <p:nvSpPr>
          <p:cNvPr id="203" name="Google Shape;203;p18"/>
          <p:cNvSpPr/>
          <p:nvPr/>
        </p:nvSpPr>
        <p:spPr>
          <a:xfrm>
            <a:off x="8413700" y="3819525"/>
            <a:ext cx="2920900" cy="190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 txBox="1"/>
          <p:nvPr/>
        </p:nvSpPr>
        <p:spPr>
          <a:xfrm>
            <a:off x="8413700" y="3981450"/>
            <a:ext cx="29209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Rešenje:</a:t>
            </a: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Stabilizacija modela i sprečavanje memorisanja šuma.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7" name="Google Shape;217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4762500"/>
            <a:ext cx="11049000" cy="914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20"/>
          <p:cNvSpPr txBox="1"/>
          <p:nvPr/>
        </p:nvSpPr>
        <p:spPr>
          <a:xfrm>
            <a:off x="762000" y="571500"/>
            <a:ext cx="114014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05. UPOREDNI REZULTATI EVALUACIJE</a:t>
            </a:r>
            <a:endParaRPr dirty="0"/>
          </a:p>
        </p:txBody>
      </p:sp>
      <p:sp>
        <p:nvSpPr>
          <p:cNvPr id="219" name="Google Shape;219;p20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0" name="Google Shape;220;p20"/>
          <p:cNvGraphicFramePr/>
          <p:nvPr>
            <p:extLst>
              <p:ext uri="{D42A27DB-BD31-4B8C-83A1-F6EECF244321}">
                <p14:modId xmlns:p14="http://schemas.microsoft.com/office/powerpoint/2010/main" val="1690376568"/>
              </p:ext>
            </p:extLst>
          </p:nvPr>
        </p:nvGraphicFramePr>
        <p:xfrm>
          <a:off x="571500" y="2276475"/>
          <a:ext cx="11049025" cy="2295500"/>
        </p:xfrm>
        <a:graphic>
          <a:graphicData uri="http://schemas.openxmlformats.org/drawingml/2006/table">
            <a:tbl>
              <a:tblPr firstRow="1" bandRow="1">
                <a:noFill/>
                <a:tableStyleId>{9E0DC04E-0C86-4453-8C63-D9EFAB88100E}</a:tableStyleId>
              </a:tblPr>
              <a:tblGrid>
                <a:gridCol w="1578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2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39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352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49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7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Konfiguracija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Accuracy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Recall (Odziv)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Precision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293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 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Baseline (bez </a:t>
                      </a:r>
                      <a:r>
                        <a:rPr lang="en-US" sz="1350" b="0" i="0" u="none" strike="noStrike" cap="none" dirty="0" err="1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težina</a:t>
                      </a:r>
                      <a:r>
                        <a:rPr lang="en-US" sz="1350" b="0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)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99.95%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0.71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0.82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 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Težinski (289:1)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97.00%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0.92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0.06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38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Model 3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Finalni (Regularizovan)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97.00%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0.92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0.07</a:t>
                      </a:r>
                      <a:endParaRPr dirty="0"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CFC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1" name="Google Shape;221;p20"/>
          <p:cNvSpPr txBox="1"/>
          <p:nvPr/>
        </p:nvSpPr>
        <p:spPr>
          <a:xfrm>
            <a:off x="876300" y="4914900"/>
            <a:ext cx="10439400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Paradoks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Model 1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ima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najveću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tačnost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(99.95%),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ali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Model 3 je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superioran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za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banku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jer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hvata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94%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svih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prevara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(Recall = 0.94).</a:t>
            </a:r>
            <a:endParaRPr dirty="0"/>
          </a:p>
        </p:txBody>
      </p:sp>
      <p:sp>
        <p:nvSpPr>
          <p:cNvPr id="222" name="Google Shape;222;p20"/>
          <p:cNvSpPr/>
          <p:nvPr/>
        </p:nvSpPr>
        <p:spPr>
          <a:xfrm>
            <a:off x="571500" y="3433762"/>
            <a:ext cx="15783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0"/>
          <p:cNvSpPr/>
          <p:nvPr/>
        </p:nvSpPr>
        <p:spPr>
          <a:xfrm>
            <a:off x="2149822" y="3433762"/>
            <a:ext cx="33221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20"/>
          <p:cNvSpPr/>
          <p:nvPr/>
        </p:nvSpPr>
        <p:spPr>
          <a:xfrm>
            <a:off x="5471963" y="3433762"/>
            <a:ext cx="18639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0"/>
          <p:cNvSpPr/>
          <p:nvPr/>
        </p:nvSpPr>
        <p:spPr>
          <a:xfrm>
            <a:off x="7335887" y="3433762"/>
            <a:ext cx="24352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0"/>
          <p:cNvSpPr/>
          <p:nvPr/>
        </p:nvSpPr>
        <p:spPr>
          <a:xfrm>
            <a:off x="9771161" y="3433762"/>
            <a:ext cx="18493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0"/>
          <p:cNvSpPr/>
          <p:nvPr/>
        </p:nvSpPr>
        <p:spPr>
          <a:xfrm>
            <a:off x="571500" y="3995737"/>
            <a:ext cx="15783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0"/>
          <p:cNvSpPr/>
          <p:nvPr/>
        </p:nvSpPr>
        <p:spPr>
          <a:xfrm>
            <a:off x="2149822" y="3995737"/>
            <a:ext cx="33221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20"/>
          <p:cNvSpPr/>
          <p:nvPr/>
        </p:nvSpPr>
        <p:spPr>
          <a:xfrm>
            <a:off x="5471963" y="3995737"/>
            <a:ext cx="18639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20"/>
          <p:cNvSpPr/>
          <p:nvPr/>
        </p:nvSpPr>
        <p:spPr>
          <a:xfrm>
            <a:off x="7335887" y="3995737"/>
            <a:ext cx="24352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0"/>
          <p:cNvSpPr/>
          <p:nvPr/>
        </p:nvSpPr>
        <p:spPr>
          <a:xfrm>
            <a:off x="9771161" y="3995737"/>
            <a:ext cx="18493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0"/>
          <p:cNvSpPr/>
          <p:nvPr/>
        </p:nvSpPr>
        <p:spPr>
          <a:xfrm>
            <a:off x="571500" y="4557712"/>
            <a:ext cx="157832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0"/>
          <p:cNvSpPr/>
          <p:nvPr/>
        </p:nvSpPr>
        <p:spPr>
          <a:xfrm>
            <a:off x="2149822" y="4557712"/>
            <a:ext cx="3322141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0"/>
          <p:cNvSpPr/>
          <p:nvPr/>
        </p:nvSpPr>
        <p:spPr>
          <a:xfrm>
            <a:off x="5471963" y="4557712"/>
            <a:ext cx="186392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0"/>
          <p:cNvSpPr/>
          <p:nvPr/>
        </p:nvSpPr>
        <p:spPr>
          <a:xfrm>
            <a:off x="7335887" y="4557712"/>
            <a:ext cx="2435274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20"/>
          <p:cNvSpPr/>
          <p:nvPr/>
        </p:nvSpPr>
        <p:spPr>
          <a:xfrm>
            <a:off x="9771161" y="4557712"/>
            <a:ext cx="1849338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-98323" y="1476375"/>
            <a:ext cx="11049000" cy="4810125"/>
          </a:xfrm>
          <a:prstGeom prst="rect">
            <a:avLst/>
          </a:prstGeom>
          <a:noFill/>
          <a:ln>
            <a:noFill/>
          </a:ln>
        </p:spPr>
      </p:pic>
      <p:sp>
        <p:nvSpPr>
          <p:cNvPr id="242" name="Google Shape;242;p21"/>
          <p:cNvSpPr txBox="1"/>
          <p:nvPr/>
        </p:nvSpPr>
        <p:spPr>
          <a:xfrm>
            <a:off x="762000" y="571500"/>
            <a:ext cx="11401425" cy="523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PRIKAZ KLJUČNIH METRIKA (%)</a:t>
            </a:r>
            <a:endParaRPr/>
          </a:p>
        </p:txBody>
      </p:sp>
      <p:sp>
        <p:nvSpPr>
          <p:cNvPr id="243" name="Google Shape;243;p21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3E90068-66E6-FFCA-1281-A2C41D05C858}"/>
              </a:ext>
            </a:extLst>
          </p:cNvPr>
          <p:cNvSpPr/>
          <p:nvPr/>
        </p:nvSpPr>
        <p:spPr>
          <a:xfrm>
            <a:off x="9841230" y="3308985"/>
            <a:ext cx="548640" cy="18669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b="1" dirty="0"/>
              <a:t>92%</a:t>
            </a:r>
            <a:endParaRPr lang="sr-Latn-RS" b="1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Google Shape;248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381752" y="2754415"/>
            <a:ext cx="5238750" cy="2247900"/>
          </a:xfrm>
          <a:prstGeom prst="rect">
            <a:avLst/>
          </a:prstGeom>
          <a:noFill/>
          <a:ln>
            <a:noFill/>
          </a:ln>
        </p:spPr>
      </p:pic>
      <p:sp>
        <p:nvSpPr>
          <p:cNvPr id="249" name="Google Shape;249;p22"/>
          <p:cNvSpPr txBox="1"/>
          <p:nvPr/>
        </p:nvSpPr>
        <p:spPr>
          <a:xfrm>
            <a:off x="762000" y="571500"/>
            <a:ext cx="11401425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06. DISKUSIJA &amp; BIZNIS PERSPEKTIVA</a:t>
            </a:r>
            <a:endParaRPr dirty="0"/>
          </a:p>
        </p:txBody>
      </p:sp>
      <p:sp>
        <p:nvSpPr>
          <p:cNvPr id="250" name="Google Shape;250;p22"/>
          <p:cNvSpPr/>
          <p:nvPr/>
        </p:nvSpPr>
        <p:spPr>
          <a:xfrm>
            <a:off x="571500" y="571500"/>
            <a:ext cx="57150" cy="523875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22"/>
          <p:cNvSpPr txBox="1"/>
          <p:nvPr/>
        </p:nvSpPr>
        <p:spPr>
          <a:xfrm>
            <a:off x="571500" y="2886075"/>
            <a:ext cx="5500687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Zašto svesno spuštamo Accuracy?</a:t>
            </a:r>
            <a:endParaRPr/>
          </a:p>
        </p:txBody>
      </p:sp>
      <p:sp>
        <p:nvSpPr>
          <p:cNvPr id="252" name="Google Shape;252;p22"/>
          <p:cNvSpPr txBox="1"/>
          <p:nvPr/>
        </p:nvSpPr>
        <p:spPr>
          <a:xfrm>
            <a:off x="571500" y="3162300"/>
            <a:ext cx="523875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Cena propuštene prevare (False Negative) uključuje finansijski gubitak, gubitak poverenja klijenta i pravne troškove.</a:t>
            </a:r>
            <a:endParaRPr/>
          </a:p>
        </p:txBody>
      </p:sp>
      <p:sp>
        <p:nvSpPr>
          <p:cNvPr id="253" name="Google Shape;253;p22"/>
          <p:cNvSpPr txBox="1"/>
          <p:nvPr/>
        </p:nvSpPr>
        <p:spPr>
          <a:xfrm>
            <a:off x="571500" y="3962400"/>
            <a:ext cx="523875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Cena lažne uzbune (False Positive) je zanemarljiva — slanje verifikacionog SMS-a ili privremena blokada kartice do potvrde korisnika.</a:t>
            </a:r>
            <a:endParaRPr/>
          </a:p>
        </p:txBody>
      </p:sp>
      <p:sp>
        <p:nvSpPr>
          <p:cNvPr id="254" name="Google Shape;254;p22"/>
          <p:cNvSpPr txBox="1"/>
          <p:nvPr/>
        </p:nvSpPr>
        <p:spPr>
          <a:xfrm>
            <a:off x="6686550" y="2886075"/>
            <a:ext cx="4860607" cy="2160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4" b="1" i="0" u="none" strike="noStrike" cap="none" dirty="0" err="1">
                <a:solidFill>
                  <a:srgbClr val="166534"/>
                </a:solidFill>
                <a:latin typeface="Poppins"/>
                <a:ea typeface="Poppins"/>
                <a:cs typeface="Poppins"/>
                <a:sym typeface="Poppins"/>
              </a:rPr>
              <a:t>Zaključak</a:t>
            </a:r>
            <a:endParaRPr dirty="0"/>
          </a:p>
        </p:txBody>
      </p:sp>
      <p:sp>
        <p:nvSpPr>
          <p:cNvPr id="255" name="Google Shape;255;p22"/>
          <p:cNvSpPr txBox="1"/>
          <p:nvPr/>
        </p:nvSpPr>
        <p:spPr>
          <a:xfrm>
            <a:off x="6686550" y="3162300"/>
            <a:ext cx="4629150" cy="12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Model 3 je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najstabilniji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izbor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 Kroz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hiperparametarsku</a:t>
            </a:r>
            <a:r>
              <a:rPr lang="en-US" sz="1500" b="1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optimizaciju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balansiranje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težina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regularizaciju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),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postignut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je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robustan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sistem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koji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detektuje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anomalije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u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realnom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vremenu</a:t>
            </a:r>
            <a:r>
              <a:rPr lang="en-US" sz="1500" b="0" i="0" u="none" strike="noStrike" cap="none" dirty="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3"/>
          <p:cNvSpPr txBox="1"/>
          <p:nvPr/>
        </p:nvSpPr>
        <p:spPr>
          <a:xfrm>
            <a:off x="295275" y="571500"/>
            <a:ext cx="11601450" cy="333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Zaključak</a:t>
            </a:r>
            <a:endParaRPr/>
          </a:p>
        </p:txBody>
      </p:sp>
      <p:sp>
        <p:nvSpPr>
          <p:cNvPr id="262" name="Google Shape;262;p23"/>
          <p:cNvSpPr txBox="1"/>
          <p:nvPr/>
        </p:nvSpPr>
        <p:spPr>
          <a:xfrm>
            <a:off x="571500" y="5798939"/>
            <a:ext cx="110490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Hvala na pažnji!</a:t>
            </a:r>
            <a:endParaRPr/>
          </a:p>
        </p:txBody>
      </p:sp>
      <p:sp>
        <p:nvSpPr>
          <p:cNvPr id="263" name="Google Shape;263;p23"/>
          <p:cNvSpPr txBox="1"/>
          <p:nvPr/>
        </p:nvSpPr>
        <p:spPr>
          <a:xfrm>
            <a:off x="2667000" y="2204144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Model 3 (</a:t>
            </a:r>
            <a:r>
              <a:rPr lang="en-US" sz="1500" b="1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Keras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MLP)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je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pobednik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0" i="0" u="none" strike="noStrike" cap="none" dirty="0" err="1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sa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500" b="1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Recall-om od 92%</a:t>
            </a:r>
            <a:r>
              <a:rPr lang="en-US" sz="1500" b="0" i="0" u="none" strike="noStrike" cap="none" dirty="0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dirty="0"/>
          </a:p>
        </p:txBody>
      </p:sp>
      <p:sp>
        <p:nvSpPr>
          <p:cNvPr id="264" name="Google Shape;264;p23"/>
          <p:cNvSpPr txBox="1"/>
          <p:nvPr/>
        </p:nvSpPr>
        <p:spPr>
          <a:xfrm>
            <a:off x="2667000" y="2670869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Uspešno rešen problem </a:t>
            </a:r>
            <a:r>
              <a:rPr lang="en-US" sz="1500" b="1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ekstremnog debalansa</a:t>
            </a:r>
            <a:r>
              <a:rPr lang="en-US" sz="15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 pomoću Weight penalizacije.</a:t>
            </a:r>
            <a:endParaRPr/>
          </a:p>
        </p:txBody>
      </p:sp>
      <p:sp>
        <p:nvSpPr>
          <p:cNvPr id="265" name="Google Shape;265;p23"/>
          <p:cNvSpPr txBox="1"/>
          <p:nvPr/>
        </p:nvSpPr>
        <p:spPr>
          <a:xfrm>
            <a:off x="2667000" y="3137594"/>
            <a:ext cx="7239000" cy="466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Regularizacija (Dropout) je bila ključna za održavanje performansi na neviđenim podacima.</a:t>
            </a:r>
            <a:endParaRPr/>
          </a:p>
        </p:txBody>
      </p:sp>
      <p:sp>
        <p:nvSpPr>
          <p:cNvPr id="266" name="Google Shape;266;p23"/>
          <p:cNvSpPr txBox="1"/>
          <p:nvPr/>
        </p:nvSpPr>
        <p:spPr>
          <a:xfrm>
            <a:off x="2667000" y="3842444"/>
            <a:ext cx="72390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rPr>
              <a:t>Accuracy je potvrdjen kao varljiva metrika u bankarskom sektoru.</a:t>
            </a:r>
            <a:endParaRPr/>
          </a:p>
        </p:txBody>
      </p:sp>
      <p:pic>
        <p:nvPicPr>
          <p:cNvPr id="267" name="Google Shape;267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220414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2670869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3137594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286000" y="3842444"/>
            <a:ext cx="200025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167</TotalTime>
  <Words>616</Words>
  <Application>Microsoft Office PowerPoint</Application>
  <PresentationFormat>Widescreen</PresentationFormat>
  <Paragraphs>104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Poppins</vt:lpstr>
      <vt:lpstr>Lato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Luka Hristov | 2022/0331</cp:lastModifiedBy>
  <cp:revision>4</cp:revision>
  <dcterms:modified xsi:type="dcterms:W3CDTF">2026-06-03T07:27:42Z</dcterms:modified>
</cp:coreProperties>
</file>