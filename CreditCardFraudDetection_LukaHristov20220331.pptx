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</p:sldIdLst>
  <p:sldSz cx="12192000" cy="6858000"/>
  <p:notesSz cx="6858000" cy="9144000"/>
  <p:embeddedFontLst>
    <p:embeddedFont>
      <p:font typeface="Lato" panose="020F0502020204030203" pitchFamily="34" charset="0"/>
      <p:regular r:id="rId13"/>
      <p:bold r:id="rId14"/>
      <p:italic r:id="rId15"/>
      <p:boldItalic r:id="rId16"/>
    </p:embeddedFont>
    <p:embeddedFont>
      <p:font typeface="Poppins" panose="020B0502040204020203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E0DC04E-0C86-4453-8C63-D9EFAB88100E}">
  <a:tblStyle styleId="{9E0DC04E-0C86-4453-8C63-D9EFAB8810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/>
          <p:nvPr/>
        </p:nvSpPr>
        <p:spPr>
          <a:xfrm>
            <a:off x="9334500" y="-1905000"/>
            <a:ext cx="4762500" cy="47625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295275" y="1632644"/>
            <a:ext cx="1160145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Credit card fraud detection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3259335"/>
            <a:ext cx="1104900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Primena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dubokih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neuronskih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mreža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za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prevenciju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finansijskih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prevara</a:t>
            </a:r>
            <a:endParaRPr dirty="0"/>
          </a:p>
        </p:txBody>
      </p:sp>
      <p:sp>
        <p:nvSpPr>
          <p:cNvPr id="88" name="Google Shape;88;p13"/>
          <p:cNvSpPr/>
          <p:nvPr/>
        </p:nvSpPr>
        <p:spPr>
          <a:xfrm>
            <a:off x="5619750" y="3910756"/>
            <a:ext cx="95250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571500" y="4615606"/>
            <a:ext cx="11049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Autor:</a:t>
            </a:r>
            <a:r>
              <a:rPr lang="en-US" sz="1500" b="0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Luka Hristov 2022/0331</a:t>
            </a:r>
            <a:endParaRPr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571500" y="4920406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Predmet:</a:t>
            </a:r>
            <a:r>
              <a:rPr lang="en-US" sz="15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Duboko učenje i neuronske mreže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476375"/>
            <a:ext cx="349240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650" y="1476375"/>
            <a:ext cx="3492549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27950" y="1476375"/>
            <a:ext cx="349240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095750"/>
            <a:ext cx="3492400" cy="2638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49650" y="4095750"/>
            <a:ext cx="3492549" cy="2638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7950" y="4095750"/>
            <a:ext cx="3492400" cy="2638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762000" y="571500"/>
            <a:ext cx="114014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STRUKTURA</a:t>
            </a:r>
            <a:endParaRPr dirty="0"/>
          </a:p>
        </p:txBody>
      </p:sp>
      <p:sp>
        <p:nvSpPr>
          <p:cNvPr id="102" name="Google Shape;102;p14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857250" y="2457450"/>
            <a:ext cx="306694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01. Opis problema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57250" y="2914650"/>
            <a:ext cx="2920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Finansijski kontekst, disbalans klasa i poslovni ciljevi detekcije.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4635400" y="2457450"/>
            <a:ext cx="3067102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02. Podaci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4635400" y="2914650"/>
            <a:ext cx="2921049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Kaggle dataset, PCA varijable i StandardScaler preprocesiranje.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413700" y="2457450"/>
            <a:ext cx="306694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03. Arhitektura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8413700" y="2914650"/>
            <a:ext cx="2920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Model levka: 30 → 32 → 16 → 1 realizovan u Keras/TensorFlow.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857250" y="5076825"/>
            <a:ext cx="306694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04. Eksperimenti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857250" y="5534025"/>
            <a:ext cx="29209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Poređenje tri konfiguracije: Baseline, Težinski i Regularizovani model.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4635400" y="5076825"/>
            <a:ext cx="3067102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05. Evaluacija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4635400" y="5534025"/>
            <a:ext cx="2921049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Analiza Accuracy paradoksa, Precision i Recall metrika.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8413700" y="5076825"/>
            <a:ext cx="306694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06. Zaključak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8413700" y="5534025"/>
            <a:ext cx="2920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Finalna preporuka i inženjerska diskusija o isplativosti.</a:t>
            </a:r>
            <a:endParaRPr/>
          </a:p>
        </p:txBody>
      </p:sp>
      <p:pic>
        <p:nvPicPr>
          <p:cNvPr id="115" name="Google Shape;115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57250" y="184785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35400" y="18478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13700" y="1847850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57250" y="44672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635400" y="44672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413700" y="4467225"/>
            <a:ext cx="333375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1750" y="3005137"/>
            <a:ext cx="5238750" cy="1943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01. OPIS PROBLEMA &amp; POSLOVNI CILJ</a:t>
            </a:r>
            <a:endParaRPr/>
          </a:p>
        </p:txBody>
      </p:sp>
      <p:sp>
        <p:nvSpPr>
          <p:cNvPr id="127" name="Google Shape;127;p15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6686550" y="3309937"/>
            <a:ext cx="486060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Poslovni kompromis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6686550" y="3729037"/>
            <a:ext cx="46291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Bolje je blokirati sumnjivu legitimnu transakciju (False Positive) i zatražiti verifikaciju, nego dopustiti prevarantu da isprazni račun (False Negative).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952500" y="2471737"/>
            <a:ext cx="48577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Ekstremni disbalans:</a:t>
            </a:r>
            <a:r>
              <a:rPr lang="en-US" sz="15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Prevare čine svega 0.17% (492 od 284,807 transakcija).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952500" y="3176587"/>
            <a:ext cx="48577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Paradoks tačnosti:</a:t>
            </a:r>
            <a:r>
              <a:rPr lang="en-US" sz="15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Accuracy od 99.9% je beskoristan jer model može promašiti sve prevare i zadržati visoku tačnost.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952500" y="3890962"/>
            <a:ext cx="4857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Cilj:</a:t>
            </a:r>
            <a:r>
              <a:rPr lang="en-US" sz="15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Maksimizacija </a:t>
            </a: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Recall-a</a:t>
            </a:r>
            <a:r>
              <a:rPr lang="en-US" sz="15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(hvatanje prevara) pre nego što se transakcija odobri.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952500" y="4586287"/>
            <a:ext cx="48577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Nelinearnost:</a:t>
            </a:r>
            <a:r>
              <a:rPr lang="en-US" sz="15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Neuronske mreže uočavaju skrivene obrasce koje linearni modeli propuštaju.</a:t>
            </a:r>
            <a:endParaRPr/>
          </a:p>
        </p:txBody>
      </p:sp>
      <p:pic>
        <p:nvPicPr>
          <p:cNvPr id="134" name="Google Shape;13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71737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176587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890962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586287"/>
            <a:ext cx="20002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02. PODACI &amp; PREPROCESIRANJE</a:t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4" name="Google Shape;144;p16"/>
          <p:cNvGraphicFramePr/>
          <p:nvPr/>
        </p:nvGraphicFramePr>
        <p:xfrm>
          <a:off x="571500" y="2252662"/>
          <a:ext cx="11049000" cy="2857500"/>
        </p:xfrm>
        <a:graphic>
          <a:graphicData uri="http://schemas.openxmlformats.org/drawingml/2006/table">
            <a:tbl>
              <a:tblPr firstRow="1" bandRow="1">
                <a:noFill/>
                <a:tableStyleId>{9E0DC04E-0C86-4453-8C63-D9EFAB88100E}</a:tableStyleId>
              </a:tblPr>
              <a:tblGrid>
                <a:gridCol w="1325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2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Atribut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Opis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Status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V1 – V28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Float (PCA)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Anonimizovane karakteristike dobijene PCA transformacijom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Već skalirano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Float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Broj sekundi proteklih od prve transakcije u setu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StandardScaler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Amount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Float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Iznos transakcije u eurima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StandardScaler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Class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Binary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Ciljna klasa (0 = Regularna, 1 = Prevara)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Target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5" name="Google Shape;145;p16"/>
          <p:cNvSpPr txBox="1"/>
          <p:nvPr/>
        </p:nvSpPr>
        <p:spPr>
          <a:xfrm>
            <a:off x="571500" y="5395912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Podela podataka: </a:t>
            </a:r>
            <a:r>
              <a:rPr lang="en-US" sz="1500" b="1" i="1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80% Train / 20% Test</a:t>
            </a:r>
            <a:r>
              <a:rPr lang="en-US" sz="1500" b="0" i="1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uz korišćenje </a:t>
            </a:r>
            <a:r>
              <a:rPr lang="en-US" sz="1500" b="1" i="1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Stratify</a:t>
            </a:r>
            <a:r>
              <a:rPr lang="en-US" sz="1500" b="0" i="1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parametra za očuvanje procenta prevara.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571500" y="3409950"/>
            <a:ext cx="13253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1896814" y="3409950"/>
            <a:ext cx="15542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3451026" y="3409950"/>
            <a:ext cx="621729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9668321" y="3409950"/>
            <a:ext cx="195217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571500" y="3971925"/>
            <a:ext cx="13253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1896814" y="3971925"/>
            <a:ext cx="15542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3451026" y="3971925"/>
            <a:ext cx="621729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/>
          <p:nvPr/>
        </p:nvSpPr>
        <p:spPr>
          <a:xfrm>
            <a:off x="9668321" y="3971925"/>
            <a:ext cx="195217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/>
          <p:nvPr/>
        </p:nvSpPr>
        <p:spPr>
          <a:xfrm>
            <a:off x="571500" y="4533900"/>
            <a:ext cx="13253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6"/>
          <p:cNvSpPr/>
          <p:nvPr/>
        </p:nvSpPr>
        <p:spPr>
          <a:xfrm>
            <a:off x="1896814" y="4533900"/>
            <a:ext cx="15542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6"/>
          <p:cNvSpPr/>
          <p:nvPr/>
        </p:nvSpPr>
        <p:spPr>
          <a:xfrm>
            <a:off x="3451026" y="4533900"/>
            <a:ext cx="621729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6"/>
          <p:cNvSpPr/>
          <p:nvPr/>
        </p:nvSpPr>
        <p:spPr>
          <a:xfrm>
            <a:off x="9668321" y="4533900"/>
            <a:ext cx="195217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6"/>
          <p:cNvSpPr/>
          <p:nvPr/>
        </p:nvSpPr>
        <p:spPr>
          <a:xfrm>
            <a:off x="571500" y="5095875"/>
            <a:ext cx="13253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6"/>
          <p:cNvSpPr/>
          <p:nvPr/>
        </p:nvSpPr>
        <p:spPr>
          <a:xfrm>
            <a:off x="1896814" y="5095875"/>
            <a:ext cx="15542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6"/>
          <p:cNvSpPr/>
          <p:nvPr/>
        </p:nvSpPr>
        <p:spPr>
          <a:xfrm>
            <a:off x="3451026" y="5095875"/>
            <a:ext cx="621729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6"/>
          <p:cNvSpPr/>
          <p:nvPr/>
        </p:nvSpPr>
        <p:spPr>
          <a:xfrm>
            <a:off x="9668321" y="5095875"/>
            <a:ext cx="195217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1750" y="2733675"/>
            <a:ext cx="5238750" cy="229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7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03. ARHITEKTURA MODELA (KERAS/TF)</a:t>
            </a:r>
            <a:endParaRPr/>
          </a:p>
        </p:txBody>
      </p:sp>
      <p:sp>
        <p:nvSpPr>
          <p:cNvPr id="168" name="Google Shape;168;p17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571500" y="2409825"/>
            <a:ext cx="550068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Funnel Arhitektura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571500" y="2686050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Postepeno sažimanje informacija radi ekstrakcije ključnih anomalija: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952500" y="3486150"/>
            <a:ext cx="48577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Ulaz:</a:t>
            </a:r>
            <a:r>
              <a:rPr lang="en-US" sz="15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30 neurona (Input Layer)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952500" y="3952875"/>
            <a:ext cx="48577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Hidden 1:</a:t>
            </a:r>
            <a:r>
              <a:rPr lang="en-US" sz="15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32 neurona + </a:t>
            </a: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ReLU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952500" y="4419600"/>
            <a:ext cx="48577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Hidden 2:</a:t>
            </a:r>
            <a:r>
              <a:rPr lang="en-US" sz="15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16 neurona + </a:t>
            </a: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ReLU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952500" y="4886325"/>
            <a:ext cx="48577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Izlaz:</a:t>
            </a:r>
            <a:r>
              <a:rPr lang="en-US" sz="15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1 neuron + </a:t>
            </a:r>
            <a:r>
              <a:rPr lang="en-US" sz="15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Sigmoid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6667500" y="3067050"/>
            <a:ext cx="4900612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Hiperparametri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6667500" y="3524250"/>
            <a:ext cx="4667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Optimizator: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Adam (lr=0.001)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6667500" y="3829050"/>
            <a:ext cx="4667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Loss: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Binary Crossentropy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6667500" y="4133850"/>
            <a:ext cx="4667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Batch: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2048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6667500" y="4438650"/>
            <a:ext cx="4667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Regularizacija: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Dropout (0.2) + L2</a:t>
            </a:r>
            <a:endParaRPr/>
          </a:p>
        </p:txBody>
      </p:sp>
      <p:pic>
        <p:nvPicPr>
          <p:cNvPr id="180" name="Google Shape;18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86150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52875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19600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886325"/>
            <a:ext cx="20002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581275"/>
            <a:ext cx="3492400" cy="2600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650" y="2581275"/>
            <a:ext cx="3492549" cy="2600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27950" y="2581275"/>
            <a:ext cx="3492400" cy="260032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8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04. TRI FAZE OPTIMIZACIJE</a:t>
            </a:r>
            <a:endParaRPr/>
          </a:p>
        </p:txBody>
      </p:sp>
      <p:sp>
        <p:nvSpPr>
          <p:cNvPr id="192" name="Google Shape;192;p18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857250" y="2914650"/>
            <a:ext cx="306694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EF4444"/>
                </a:solidFill>
                <a:latin typeface="Poppins"/>
                <a:ea typeface="Poppins"/>
                <a:cs typeface="Poppins"/>
                <a:sym typeface="Poppins"/>
              </a:rPr>
              <a:t>M1: Baseline</a:t>
            </a:r>
            <a:endParaRPr/>
          </a:p>
        </p:txBody>
      </p:sp>
      <p:sp>
        <p:nvSpPr>
          <p:cNvPr id="194" name="Google Shape;194;p18"/>
          <p:cNvSpPr txBox="1"/>
          <p:nvPr/>
        </p:nvSpPr>
        <p:spPr>
          <a:xfrm>
            <a:off x="857250" y="3371850"/>
            <a:ext cx="2920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Čista mreža bez balansiranja klasa.</a:t>
            </a:r>
            <a:endParaRPr/>
          </a:p>
        </p:txBody>
      </p:sp>
      <p:sp>
        <p:nvSpPr>
          <p:cNvPr id="195" name="Google Shape;195;p18"/>
          <p:cNvSpPr/>
          <p:nvPr/>
        </p:nvSpPr>
        <p:spPr>
          <a:xfrm>
            <a:off x="857250" y="3819525"/>
            <a:ext cx="2920900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>
            <a:off x="857250" y="3981450"/>
            <a:ext cx="2920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Problem: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Ignoriše prevare radi održavanja 99.9% tačnosti.</a:t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4635400" y="2914650"/>
            <a:ext cx="3067102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59E0B"/>
                </a:solidFill>
                <a:latin typeface="Poppins"/>
                <a:ea typeface="Poppins"/>
                <a:cs typeface="Poppins"/>
                <a:sym typeface="Poppins"/>
              </a:rPr>
              <a:t>M2: Težinski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4635400" y="3371850"/>
            <a:ext cx="2921049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Uvođenje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Class Weights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(odnos 289:1).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4635400" y="4124325"/>
            <a:ext cx="292104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 txBox="1"/>
          <p:nvPr/>
        </p:nvSpPr>
        <p:spPr>
          <a:xfrm>
            <a:off x="4635400" y="4286250"/>
            <a:ext cx="2921049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Efekat: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Drastičan skok Recall-a, ali visoka paranoja (lažne uzbune).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8413700" y="2914650"/>
            <a:ext cx="306694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M3: Finalni</a:t>
            </a:r>
            <a:endParaRPr/>
          </a:p>
        </p:txBody>
      </p:sp>
      <p:sp>
        <p:nvSpPr>
          <p:cNvPr id="202" name="Google Shape;202;p18"/>
          <p:cNvSpPr txBox="1"/>
          <p:nvPr/>
        </p:nvSpPr>
        <p:spPr>
          <a:xfrm>
            <a:off x="8413700" y="3371850"/>
            <a:ext cx="2920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Težine +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Dropout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+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Weight Decay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03" name="Google Shape;203;p18"/>
          <p:cNvSpPr/>
          <p:nvPr/>
        </p:nvSpPr>
        <p:spPr>
          <a:xfrm>
            <a:off x="8413700" y="3819525"/>
            <a:ext cx="2920900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 txBox="1"/>
          <p:nvPr/>
        </p:nvSpPr>
        <p:spPr>
          <a:xfrm>
            <a:off x="8413700" y="3981450"/>
            <a:ext cx="2920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Rešenje: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Stabilizacija modela i sprečavanje memorisanja šuma.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762500"/>
            <a:ext cx="110490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0"/>
          <p:cNvSpPr txBox="1"/>
          <p:nvPr/>
        </p:nvSpPr>
        <p:spPr>
          <a:xfrm>
            <a:off x="762000" y="571500"/>
            <a:ext cx="114014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05. UPOREDNI REZULTATI EVALUACIJE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0" name="Google Shape;220;p20"/>
          <p:cNvGraphicFramePr/>
          <p:nvPr/>
        </p:nvGraphicFramePr>
        <p:xfrm>
          <a:off x="571500" y="2276475"/>
          <a:ext cx="11049025" cy="2295500"/>
        </p:xfrm>
        <a:graphic>
          <a:graphicData uri="http://schemas.openxmlformats.org/drawingml/2006/table">
            <a:tbl>
              <a:tblPr firstRow="1" bandRow="1">
                <a:noFill/>
                <a:tableStyleId>{9E0DC04E-0C86-4453-8C63-D9EFAB88100E}</a:tableStyleId>
              </a:tblPr>
              <a:tblGrid>
                <a:gridCol w="1578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2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3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5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9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Konfiguracija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Accuracy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Recall (Odziv)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Precision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 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Baseline (bez težina)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99.95%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0.71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0.82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 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Težinski (289:1)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97.00%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0.92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0.06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 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Finalni (Regularizovan)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97.00%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0.94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0.07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1" name="Google Shape;221;p20"/>
          <p:cNvSpPr txBox="1"/>
          <p:nvPr/>
        </p:nvSpPr>
        <p:spPr>
          <a:xfrm>
            <a:off x="876300" y="4914900"/>
            <a:ext cx="10439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Paradoks</a:t>
            </a:r>
            <a:r>
              <a:rPr lang="en-US" sz="15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Model 1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najveću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tačnost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(99.95%),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ali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Model 3 je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superioran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za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banku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jer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hvata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94% </a:t>
            </a:r>
            <a:r>
              <a:rPr lang="en-US" sz="150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svih</a:t>
            </a:r>
            <a:r>
              <a:rPr lang="en-US" sz="15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prevara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(Recall = 0.94).</a:t>
            </a:r>
            <a:endParaRPr dirty="0"/>
          </a:p>
        </p:txBody>
      </p:sp>
      <p:sp>
        <p:nvSpPr>
          <p:cNvPr id="222" name="Google Shape;222;p20"/>
          <p:cNvSpPr/>
          <p:nvPr/>
        </p:nvSpPr>
        <p:spPr>
          <a:xfrm>
            <a:off x="571500" y="3433762"/>
            <a:ext cx="15783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0"/>
          <p:cNvSpPr/>
          <p:nvPr/>
        </p:nvSpPr>
        <p:spPr>
          <a:xfrm>
            <a:off x="2149822" y="3433762"/>
            <a:ext cx="33221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0"/>
          <p:cNvSpPr/>
          <p:nvPr/>
        </p:nvSpPr>
        <p:spPr>
          <a:xfrm>
            <a:off x="5471963" y="3433762"/>
            <a:ext cx="186392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0"/>
          <p:cNvSpPr/>
          <p:nvPr/>
        </p:nvSpPr>
        <p:spPr>
          <a:xfrm>
            <a:off x="7335887" y="3433762"/>
            <a:ext cx="243527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0"/>
          <p:cNvSpPr/>
          <p:nvPr/>
        </p:nvSpPr>
        <p:spPr>
          <a:xfrm>
            <a:off x="9771161" y="3433762"/>
            <a:ext cx="18493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0"/>
          <p:cNvSpPr/>
          <p:nvPr/>
        </p:nvSpPr>
        <p:spPr>
          <a:xfrm>
            <a:off x="571500" y="3995737"/>
            <a:ext cx="15783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0"/>
          <p:cNvSpPr/>
          <p:nvPr/>
        </p:nvSpPr>
        <p:spPr>
          <a:xfrm>
            <a:off x="2149822" y="3995737"/>
            <a:ext cx="33221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0"/>
          <p:cNvSpPr/>
          <p:nvPr/>
        </p:nvSpPr>
        <p:spPr>
          <a:xfrm>
            <a:off x="5471963" y="3995737"/>
            <a:ext cx="186392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0"/>
          <p:cNvSpPr/>
          <p:nvPr/>
        </p:nvSpPr>
        <p:spPr>
          <a:xfrm>
            <a:off x="7335887" y="3995737"/>
            <a:ext cx="243527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0"/>
          <p:cNvSpPr/>
          <p:nvPr/>
        </p:nvSpPr>
        <p:spPr>
          <a:xfrm>
            <a:off x="9771161" y="3995737"/>
            <a:ext cx="18493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571500" y="4557712"/>
            <a:ext cx="15783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/>
          <p:nvPr/>
        </p:nvSpPr>
        <p:spPr>
          <a:xfrm>
            <a:off x="2149822" y="4557712"/>
            <a:ext cx="33221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0"/>
          <p:cNvSpPr/>
          <p:nvPr/>
        </p:nvSpPr>
        <p:spPr>
          <a:xfrm>
            <a:off x="5471963" y="4557712"/>
            <a:ext cx="186392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0"/>
          <p:cNvSpPr/>
          <p:nvPr/>
        </p:nvSpPr>
        <p:spPr>
          <a:xfrm>
            <a:off x="7335887" y="4557712"/>
            <a:ext cx="243527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/>
          <p:nvPr/>
        </p:nvSpPr>
        <p:spPr>
          <a:xfrm>
            <a:off x="9771161" y="4557712"/>
            <a:ext cx="18493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7261" y="1476375"/>
            <a:ext cx="11049000" cy="4810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1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PRIKAZ KLJUČNIH METRIKA (%)</a:t>
            </a:r>
            <a:endParaRPr/>
          </a:p>
        </p:txBody>
      </p:sp>
      <p:sp>
        <p:nvSpPr>
          <p:cNvPr id="243" name="Google Shape;243;p21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1752" y="2754415"/>
            <a:ext cx="5238750" cy="22479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2"/>
          <p:cNvSpPr txBox="1"/>
          <p:nvPr/>
        </p:nvSpPr>
        <p:spPr>
          <a:xfrm>
            <a:off x="762000" y="571500"/>
            <a:ext cx="11401425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06. DISKUSIJA &amp; BIZNIS PERSPEKTIVA</a:t>
            </a:r>
            <a:endParaRPr dirty="0"/>
          </a:p>
        </p:txBody>
      </p:sp>
      <p:sp>
        <p:nvSpPr>
          <p:cNvPr id="250" name="Google Shape;250;p22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2"/>
          <p:cNvSpPr txBox="1"/>
          <p:nvPr/>
        </p:nvSpPr>
        <p:spPr>
          <a:xfrm>
            <a:off x="571500" y="2886075"/>
            <a:ext cx="550068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Zašto svesno spuštamo Accuracy?</a:t>
            </a:r>
            <a:endParaRPr/>
          </a:p>
        </p:txBody>
      </p:sp>
      <p:sp>
        <p:nvSpPr>
          <p:cNvPr id="252" name="Google Shape;252;p22"/>
          <p:cNvSpPr txBox="1"/>
          <p:nvPr/>
        </p:nvSpPr>
        <p:spPr>
          <a:xfrm>
            <a:off x="571500" y="3162300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Cena propuštene prevare (False Negative) uključuje finansijski gubitak, gubitak poverenja klijenta i pravne troškove.</a:t>
            </a:r>
            <a:endParaRPr/>
          </a:p>
        </p:txBody>
      </p:sp>
      <p:sp>
        <p:nvSpPr>
          <p:cNvPr id="253" name="Google Shape;253;p22"/>
          <p:cNvSpPr txBox="1"/>
          <p:nvPr/>
        </p:nvSpPr>
        <p:spPr>
          <a:xfrm>
            <a:off x="571500" y="3962400"/>
            <a:ext cx="52387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Cena lažne uzbune (False Positive) je zanemarljiva — slanje verifikacionog SMS-a ili privremena blokada kartice do potvrde korisnika.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6686550" y="2886075"/>
            <a:ext cx="486060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 err="1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Inženjerski</a:t>
            </a:r>
            <a:r>
              <a:rPr lang="en-US" sz="1404" b="1" i="0" u="none" strike="noStrike" cap="none" dirty="0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404" b="1" i="0" u="none" strike="noStrike" cap="none" dirty="0" err="1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zaključak</a:t>
            </a:r>
            <a:endParaRPr dirty="0"/>
          </a:p>
        </p:txBody>
      </p:sp>
      <p:sp>
        <p:nvSpPr>
          <p:cNvPr id="255" name="Google Shape;255;p22"/>
          <p:cNvSpPr txBox="1"/>
          <p:nvPr/>
        </p:nvSpPr>
        <p:spPr>
          <a:xfrm>
            <a:off x="6686550" y="3162300"/>
            <a:ext cx="46291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Model 3 je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najstabilniji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izbor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 Kroz </a:t>
            </a:r>
            <a:r>
              <a:rPr lang="en-US" sz="150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hiperparametarsku</a:t>
            </a:r>
            <a:r>
              <a:rPr lang="en-US" sz="15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optimizaciju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balansiranje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težina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regularizaciju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),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postignut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je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robustan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sistem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koji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detektuje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anomalije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u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realnom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vremenu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Google Shape;260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3"/>
          <p:cNvSpPr txBox="1"/>
          <p:nvPr/>
        </p:nvSpPr>
        <p:spPr>
          <a:xfrm>
            <a:off x="295275" y="571500"/>
            <a:ext cx="1160145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Zaključak</a:t>
            </a:r>
            <a:endParaRPr/>
          </a:p>
        </p:txBody>
      </p:sp>
      <p:sp>
        <p:nvSpPr>
          <p:cNvPr id="262" name="Google Shape;262;p23"/>
          <p:cNvSpPr txBox="1"/>
          <p:nvPr/>
        </p:nvSpPr>
        <p:spPr>
          <a:xfrm>
            <a:off x="571500" y="5798939"/>
            <a:ext cx="1104900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Hvala na pažnji!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2667000" y="2204144"/>
            <a:ext cx="723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Model 3 (Keras MLP)</a:t>
            </a:r>
            <a:r>
              <a:rPr lang="en-US" sz="15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je pobednik sa </a:t>
            </a:r>
            <a:r>
              <a:rPr lang="en-US" sz="150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Recall-om od 94%</a:t>
            </a:r>
            <a:r>
              <a:rPr lang="en-US" sz="15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667000" y="2670869"/>
            <a:ext cx="723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Uspešno rešen problem </a:t>
            </a:r>
            <a:r>
              <a:rPr lang="en-US" sz="1500" b="1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ekstremnog debalansa</a:t>
            </a:r>
            <a:r>
              <a:rPr lang="en-US" sz="15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pomoću Weight penalizacije.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2667000" y="3137594"/>
            <a:ext cx="723900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Regularizacija (Dropout) je bila ključna za održavanje performansi na neviđenim podacima.</a:t>
            </a:r>
            <a:endParaRPr/>
          </a:p>
        </p:txBody>
      </p:sp>
      <p:sp>
        <p:nvSpPr>
          <p:cNvPr id="266" name="Google Shape;266;p23"/>
          <p:cNvSpPr txBox="1"/>
          <p:nvPr/>
        </p:nvSpPr>
        <p:spPr>
          <a:xfrm>
            <a:off x="2667000" y="3842444"/>
            <a:ext cx="723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Accuracy je potvrdjen kao varljiva metrika u bankarskom sektoru.</a:t>
            </a:r>
            <a:endParaRPr/>
          </a:p>
        </p:txBody>
      </p:sp>
      <p:pic>
        <p:nvPicPr>
          <p:cNvPr id="267" name="Google Shape;26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6000" y="2204144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6000" y="2670869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6000" y="3137594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6000" y="3842444"/>
            <a:ext cx="20002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617</Words>
  <Application>Microsoft Office PowerPoint</Application>
  <PresentationFormat>Widescreen</PresentationFormat>
  <Paragraphs>103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Poppins</vt:lpstr>
      <vt:lpstr>Lato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Luka Hristov | 2022/0331</cp:lastModifiedBy>
  <cp:revision>1</cp:revision>
  <dcterms:modified xsi:type="dcterms:W3CDTF">2026-05-28T10:09:34Z</dcterms:modified>
</cp:coreProperties>
</file>